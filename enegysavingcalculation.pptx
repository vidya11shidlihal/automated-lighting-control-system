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3" r:id="rId2"/>
    <p:sldId id="325" r:id="rId3"/>
    <p:sldId id="326" r:id="rId4"/>
    <p:sldId id="300" r:id="rId5"/>
    <p:sldId id="327" r:id="rId6"/>
    <p:sldId id="328" r:id="rId7"/>
    <p:sldId id="329" r:id="rId8"/>
    <p:sldId id="330" r:id="rId9"/>
    <p:sldId id="331" r:id="rId10"/>
    <p:sldId id="332" r:id="rId11"/>
    <p:sldId id="333" r:id="rId12"/>
    <p:sldId id="334" r:id="rId13"/>
    <p:sldId id="335" r:id="rId14"/>
    <p:sldId id="324" r:id="rId15"/>
    <p:sldId id="29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B4F2CF-D1F7-49F0-BDF6-11608E4847E1}" v="11" dt="2024-12-02T08:05:35.4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4779" autoAdjust="0"/>
    <p:restoredTop sz="94660"/>
  </p:normalViewPr>
  <p:slideViewPr>
    <p:cSldViewPr snapToGrid="0">
      <p:cViewPr>
        <p:scale>
          <a:sx n="75" d="100"/>
          <a:sy n="75" d="100"/>
        </p:scale>
        <p:origin x="-1666" y="-34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4900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72ED5-077F-459A-AA0B-12EC5545C20D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CCAC-1609-44C7-8161-487B0D3206B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8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9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72ED5-077F-459A-AA0B-12EC5545C20D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10485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5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CCAC-1609-44C7-8161-487B0D3206B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19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72ED5-077F-459A-AA0B-12EC5545C20D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104862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CCAC-1609-44C7-8161-487B0D3206B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24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25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2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72ED5-077F-459A-AA0B-12EC5545C20D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104862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2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CCAC-1609-44C7-8161-487B0D3206B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30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1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3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3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3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72ED5-077F-459A-AA0B-12EC5545C20D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104863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3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CCAC-1609-44C7-8161-487B0D3206B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99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72ED5-077F-459A-AA0B-12EC5545C20D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104860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0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CCAC-1609-44C7-8161-487B0D3206B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72ED5-077F-459A-AA0B-12EC5545C20D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104863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3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CCAC-1609-44C7-8161-487B0D3206B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41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42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72ED5-077F-459A-AA0B-12EC5545C20D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104864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4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CCAC-1609-44C7-8161-487B0D3206B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08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104860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1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72ED5-077F-459A-AA0B-12EC5545C20D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104861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1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CCAC-1609-44C7-8161-487B0D3206B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14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72ED5-077F-459A-AA0B-12EC5545C20D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10486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CCAC-1609-44C7-8161-487B0D3206B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0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0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72ED5-077F-459A-AA0B-12EC5545C20D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104860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0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ACCAC-1609-44C7-8161-487B0D3206B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172ED5-077F-459A-AA0B-12EC5545C20D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ACCAC-1609-44C7-8161-487B0D3206B7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D2586AE-7E6E-B994-BCC0-99C9FFFDC3B7}"/>
              </a:ext>
            </a:extLst>
          </p:cNvPr>
          <p:cNvSpPr txBox="1"/>
          <p:nvPr/>
        </p:nvSpPr>
        <p:spPr>
          <a:xfrm>
            <a:off x="1998189" y="1397000"/>
            <a:ext cx="68918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           </a:t>
            </a:r>
            <a:r>
              <a:rPr lang="en-IN" sz="4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Minor Project</a:t>
            </a:r>
            <a:endParaRPr lang="en-IN" sz="4400" b="1" dirty="0">
              <a:solidFill>
                <a:schemeClr val="tx1">
                  <a:lumMod val="75000"/>
                  <a:lumOff val="25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C0FFCB3-7277-5A77-5764-0817A4795E36}"/>
              </a:ext>
            </a:extLst>
          </p:cNvPr>
          <p:cNvSpPr txBox="1"/>
          <p:nvPr/>
        </p:nvSpPr>
        <p:spPr>
          <a:xfrm>
            <a:off x="4409953" y="5970036"/>
            <a:ext cx="40654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Under the Guidance of</a:t>
            </a:r>
          </a:p>
          <a:p>
            <a:r>
              <a:rPr lang="en-IN" sz="2800" dirty="0"/>
              <a:t>Dr. </a:t>
            </a:r>
            <a:r>
              <a:rPr lang="en-IN" sz="2800" dirty="0" smtClean="0"/>
              <a:t>Nalini Karchi</a:t>
            </a:r>
            <a:endParaRPr lang="en-IN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3BA316B7-A977-D76A-A727-2708D0ED1A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498" y="56967"/>
            <a:ext cx="10294374" cy="11195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11375426-54E0-3A43-0393-AEABA6F752C1}"/>
              </a:ext>
            </a:extLst>
          </p:cNvPr>
          <p:cNvSpPr txBox="1"/>
          <p:nvPr/>
        </p:nvSpPr>
        <p:spPr>
          <a:xfrm>
            <a:off x="1714500" y="2166441"/>
            <a:ext cx="909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accent2">
                    <a:lumMod val="50000"/>
                  </a:schemeClr>
                </a:solidFill>
              </a:rPr>
              <a:t>Department of  Electrical and Electronics Engineering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615DEA17-30BD-2E81-9D4B-8BCDB77D0425}"/>
              </a:ext>
            </a:extLst>
          </p:cNvPr>
          <p:cNvSpPr txBox="1"/>
          <p:nvPr/>
        </p:nvSpPr>
        <p:spPr>
          <a:xfrm>
            <a:off x="1617655" y="2751216"/>
            <a:ext cx="95252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 smtClean="0"/>
              <a:t>Title:</a:t>
            </a:r>
            <a:r>
              <a:rPr lang="en-US" sz="2800" dirty="0" smtClean="0"/>
              <a:t>Automated </a:t>
            </a:r>
            <a:r>
              <a:rPr lang="en-US" sz="2800" dirty="0"/>
              <a:t>Lighting Control to Reduce Energy Waste</a:t>
            </a:r>
            <a:endParaRPr lang="en-IN" sz="28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5ADEB7A3-0F27-664B-7986-63B7D4C84D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31649"/>
              </p:ext>
            </p:extLst>
          </p:nvPr>
        </p:nvGraphicFramePr>
        <p:xfrm>
          <a:off x="1998188" y="3425339"/>
          <a:ext cx="743094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5474">
                  <a:extLst>
                    <a:ext uri="{9D8B030D-6E8A-4147-A177-3AD203B41FA5}">
                      <a16:colId xmlns:a16="http://schemas.microsoft.com/office/drawing/2014/main" xmlns="" val="1023293193"/>
                    </a:ext>
                  </a:extLst>
                </a:gridCol>
                <a:gridCol w="3715474">
                  <a:extLst>
                    <a:ext uri="{9D8B030D-6E8A-4147-A177-3AD203B41FA5}">
                      <a16:colId xmlns:a16="http://schemas.microsoft.com/office/drawing/2014/main" xmlns="" val="3738783590"/>
                    </a:ext>
                  </a:extLst>
                </a:gridCol>
              </a:tblGrid>
              <a:tr h="217713">
                <a:tc>
                  <a:txBody>
                    <a:bodyPr/>
                    <a:lstStyle/>
                    <a:p>
                      <a:r>
                        <a:rPr lang="en-IN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12059276"/>
                  </a:ext>
                </a:extLst>
              </a:tr>
              <a:tr h="217713">
                <a:tc>
                  <a:txBody>
                    <a:bodyPr/>
                    <a:lstStyle/>
                    <a:p>
                      <a:r>
                        <a:rPr lang="en-IN" dirty="0" smtClean="0"/>
                        <a:t>Gagan</a:t>
                      </a:r>
                      <a:r>
                        <a:rPr lang="en-IN" baseline="0" dirty="0" smtClean="0"/>
                        <a:t> Kolli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02FE22BEE010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83883019"/>
                  </a:ext>
                </a:extLst>
              </a:tr>
              <a:tr h="217713"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Shrinivas Sonkanadagi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02FE22BEE039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90720998"/>
                  </a:ext>
                </a:extLst>
              </a:tr>
              <a:tr h="217713">
                <a:tc>
                  <a:txBody>
                    <a:bodyPr/>
                    <a:lstStyle/>
                    <a:p>
                      <a:r>
                        <a:rPr lang="en-US" sz="18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Sushmeeta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Basaragi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02FE22BEE046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52428231"/>
                  </a:ext>
                </a:extLst>
              </a:tr>
              <a:tr h="217713">
                <a:tc>
                  <a:txBody>
                    <a:bodyPr/>
                    <a:lstStyle/>
                    <a:p>
                      <a:r>
                        <a:rPr lang="en-IN" dirty="0"/>
                        <a:t>Vidya Shidlihal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02FE22BEE053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23193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2780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500" y="508000"/>
            <a:ext cx="11036300" cy="5668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smtClean="0"/>
              <a:t>                                    </a:t>
            </a:r>
            <a:r>
              <a:rPr lang="en-US" sz="1800" dirty="0" smtClean="0">
                <a:solidFill>
                  <a:srgbClr val="C00000"/>
                </a:solidFill>
              </a:rPr>
              <a:t>Calculation for energy consumption for our classroom time table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smtClean="0"/>
              <a:t>For Monday:</a:t>
            </a:r>
          </a:p>
          <a:p>
            <a:pPr marL="0" indent="0">
              <a:buNone/>
            </a:pPr>
            <a:r>
              <a:rPr lang="en-US" sz="1800" dirty="0" smtClean="0"/>
              <a:t>Each </a:t>
            </a:r>
            <a:r>
              <a:rPr lang="en-US" sz="1800" dirty="0"/>
              <a:t>light = </a:t>
            </a:r>
            <a:r>
              <a:rPr lang="en-US" sz="1800" dirty="0" smtClean="0"/>
              <a:t>20 W</a:t>
            </a:r>
          </a:p>
          <a:p>
            <a:pPr marL="0" indent="0">
              <a:buNone/>
            </a:pPr>
            <a:r>
              <a:rPr lang="en-US" sz="1800" dirty="0" smtClean="0"/>
              <a:t>6 </a:t>
            </a:r>
            <a:r>
              <a:rPr lang="en-US" sz="1800" dirty="0"/>
              <a:t>bulbs in the </a:t>
            </a:r>
            <a:r>
              <a:rPr lang="en-US" sz="1800" dirty="0" smtClean="0"/>
              <a:t>classroom</a:t>
            </a:r>
          </a:p>
          <a:p>
            <a:pPr marL="0" indent="0">
              <a:buNone/>
            </a:pPr>
            <a:r>
              <a:rPr lang="en-US" sz="1800" dirty="0" smtClean="0"/>
              <a:t>Break </a:t>
            </a:r>
            <a:r>
              <a:rPr lang="en-US" sz="1800" dirty="0"/>
              <a:t>time &amp; lunch time = lights </a:t>
            </a:r>
            <a:r>
              <a:rPr lang="en-US" sz="1800" dirty="0" smtClean="0"/>
              <a:t>OFF</a:t>
            </a:r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endParaRPr lang="en-US" sz="18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568596"/>
              </p:ext>
            </p:extLst>
          </p:nvPr>
        </p:nvGraphicFramePr>
        <p:xfrm>
          <a:off x="558801" y="2886286"/>
          <a:ext cx="81153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5100"/>
                <a:gridCol w="2705100"/>
                <a:gridCol w="270510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Time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Duration</a:t>
                      </a:r>
                      <a:endParaRPr lang="en-US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9:00 to 11:00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11:00 to</a:t>
                      </a:r>
                      <a:r>
                        <a:rPr lang="en-US" baseline="0" dirty="0" smtClean="0"/>
                        <a:t> 11:30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Break(off)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11:30 to 1:30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1:30 to 2:30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Lunch break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2:30 to 5:30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1478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000" y="584200"/>
            <a:ext cx="11226800" cy="5592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smtClean="0"/>
              <a:t>Total </a:t>
            </a:r>
            <a:r>
              <a:rPr lang="en-US" sz="1800" dirty="0"/>
              <a:t>actual usage (with automation</a:t>
            </a:r>
            <a:r>
              <a:rPr lang="en-US" sz="1800" dirty="0" smtClean="0"/>
              <a:t>) </a:t>
            </a:r>
            <a:r>
              <a:rPr lang="en-US" sz="1800" dirty="0"/>
              <a:t>= 2 + 2 + 3 = </a:t>
            </a:r>
            <a:r>
              <a:rPr lang="en-US" sz="1800" dirty="0" smtClean="0"/>
              <a:t>7 hours</a:t>
            </a:r>
          </a:p>
          <a:p>
            <a:pPr marL="0" indent="0">
              <a:buNone/>
            </a:pPr>
            <a:r>
              <a:rPr lang="en-US" sz="1800" dirty="0" smtClean="0"/>
              <a:t>Total </a:t>
            </a:r>
            <a:r>
              <a:rPr lang="en-US" sz="1800" dirty="0"/>
              <a:t>time if lights ON all day (9 AM – 5:30 PM</a:t>
            </a:r>
            <a:r>
              <a:rPr lang="en-US" sz="1800" dirty="0" smtClean="0"/>
              <a:t>) </a:t>
            </a:r>
            <a:r>
              <a:rPr lang="en-US" sz="1800" dirty="0"/>
              <a:t>= </a:t>
            </a:r>
            <a:r>
              <a:rPr lang="en-US" sz="1800" dirty="0" smtClean="0"/>
              <a:t>8.5 hours</a:t>
            </a:r>
          </a:p>
          <a:p>
            <a:pPr marL="0" indent="0">
              <a:buNone/>
            </a:pPr>
            <a:r>
              <a:rPr lang="en-US" sz="1800" b="1" dirty="0"/>
              <a:t>Case 1: Without </a:t>
            </a:r>
            <a:r>
              <a:rPr lang="en-US" sz="1800" b="1" dirty="0" smtClean="0"/>
              <a:t>Automation Lights </a:t>
            </a:r>
            <a:r>
              <a:rPr lang="en-US" sz="1800" b="1" dirty="0"/>
              <a:t>ON from 9:00 AM to 5:30 PM </a:t>
            </a:r>
            <a:r>
              <a:rPr lang="en-US" sz="1800" b="1" dirty="0" smtClean="0"/>
              <a:t>continuously</a:t>
            </a:r>
          </a:p>
          <a:p>
            <a:pPr marL="0" indent="0">
              <a:buNone/>
            </a:pPr>
            <a:r>
              <a:rPr lang="en-US" sz="1800" dirty="0" smtClean="0"/>
              <a:t>Total </a:t>
            </a:r>
            <a:r>
              <a:rPr lang="en-US" sz="1800" dirty="0"/>
              <a:t>time = 8.5 hours 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Total </a:t>
            </a:r>
            <a:r>
              <a:rPr lang="en-US" sz="1800" dirty="0"/>
              <a:t>Power = 6 bulbs × 20W = </a:t>
            </a:r>
            <a:r>
              <a:rPr lang="en-US" sz="1800" dirty="0" smtClean="0"/>
              <a:t>120 W</a:t>
            </a:r>
          </a:p>
          <a:p>
            <a:pPr marL="0" indent="0">
              <a:buNone/>
            </a:pPr>
            <a:r>
              <a:rPr lang="en-US" sz="1800" dirty="0" smtClean="0"/>
              <a:t>Energy </a:t>
            </a:r>
            <a:r>
              <a:rPr lang="en-US" sz="1800" dirty="0"/>
              <a:t>= 120 W × 8.5 h = </a:t>
            </a:r>
            <a:r>
              <a:rPr lang="en-US" sz="1800" dirty="0" smtClean="0"/>
              <a:t>1020 </a:t>
            </a:r>
            <a:r>
              <a:rPr lang="en-US" sz="1800" dirty="0"/>
              <a:t>Wh = 1.02 </a:t>
            </a:r>
            <a:r>
              <a:rPr lang="en-US" sz="1800" dirty="0" smtClean="0"/>
              <a:t>kWh</a:t>
            </a:r>
          </a:p>
          <a:p>
            <a:pPr marL="0" indent="0">
              <a:buNone/>
            </a:pPr>
            <a:r>
              <a:rPr lang="en-US" sz="1800" b="1" dirty="0"/>
              <a:t>Case 2: With </a:t>
            </a:r>
            <a:r>
              <a:rPr lang="en-US" sz="1800" b="1" dirty="0" smtClean="0"/>
              <a:t>Automation Lights </a:t>
            </a:r>
            <a:r>
              <a:rPr lang="en-US" sz="1800" b="1" dirty="0"/>
              <a:t>ON only during class hours (7 hours</a:t>
            </a:r>
            <a:r>
              <a:rPr lang="en-US" sz="1800" b="1" dirty="0" smtClean="0"/>
              <a:t>)</a:t>
            </a:r>
          </a:p>
          <a:p>
            <a:pPr marL="0" indent="0">
              <a:buNone/>
            </a:pPr>
            <a:r>
              <a:rPr lang="en-US" sz="1800" dirty="0" smtClean="0"/>
              <a:t>Energy </a:t>
            </a:r>
            <a:r>
              <a:rPr lang="en-US" sz="1800" dirty="0"/>
              <a:t>= 120 W </a:t>
            </a:r>
            <a:r>
              <a:rPr lang="en-US" sz="1800" dirty="0" smtClean="0"/>
              <a:t>× </a:t>
            </a:r>
            <a:r>
              <a:rPr lang="en-US" sz="1800" dirty="0"/>
              <a:t>7 h = </a:t>
            </a:r>
            <a:r>
              <a:rPr lang="en-US" sz="1800" dirty="0" smtClean="0"/>
              <a:t>840 </a:t>
            </a:r>
            <a:r>
              <a:rPr lang="en-US" sz="1800" dirty="0"/>
              <a:t>Wh = 0.84 </a:t>
            </a:r>
            <a:r>
              <a:rPr lang="en-US" sz="1800" dirty="0" smtClean="0"/>
              <a:t>kWh</a:t>
            </a:r>
          </a:p>
          <a:p>
            <a:pPr marL="0" indent="0">
              <a:buNone/>
            </a:pPr>
            <a:r>
              <a:rPr lang="en-US" sz="1800" b="1" dirty="0" smtClean="0"/>
              <a:t>Energy </a:t>
            </a:r>
            <a:r>
              <a:rPr lang="en-US" sz="1800" b="1" dirty="0"/>
              <a:t>Saved (</a:t>
            </a:r>
            <a:r>
              <a:rPr lang="en-US" sz="1800" b="1" dirty="0" smtClean="0"/>
              <a:t>Optimization) = 1.02 </a:t>
            </a:r>
            <a:r>
              <a:rPr lang="en-US" sz="1800" b="1" dirty="0"/>
              <a:t>kWh - 0.84 kWh = 0.18 kWh saved on Monday</a:t>
            </a:r>
            <a:endParaRPr lang="en-US" sz="1800" b="1" dirty="0" smtClean="0"/>
          </a:p>
        </p:txBody>
      </p:sp>
    </p:spTree>
    <p:extLst>
      <p:ext uri="{BB962C8B-B14F-4D97-AF65-F5344CB8AC3E}">
        <p14:creationId xmlns:p14="http://schemas.microsoft.com/office/powerpoint/2010/main" val="1721520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60CB7EB-0488-611F-60FD-730B1187B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71" y="117987"/>
            <a:ext cx="11088329" cy="60589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Tuesday:</a:t>
            </a:r>
          </a:p>
          <a:p>
            <a:pPr marL="0" indent="0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Number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tube lights =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  <a:p>
            <a:pPr marL="0" indent="0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Power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 tube light =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 W</a:t>
            </a:r>
          </a:p>
          <a:p>
            <a:pPr marL="0" indent="0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= 6 × 20 W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120 W</a:t>
            </a:r>
          </a:p>
          <a:p>
            <a:pPr marL="0" indent="0">
              <a:buNone/>
            </a:pP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464942"/>
              </p:ext>
            </p:extLst>
          </p:nvPr>
        </p:nvGraphicFramePr>
        <p:xfrm>
          <a:off x="304800" y="1913466"/>
          <a:ext cx="812799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/>
                <a:gridCol w="2709333"/>
                <a:gridCol w="270933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Time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Duration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9:00 – 11:00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Class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11:00 to</a:t>
                      </a:r>
                      <a:r>
                        <a:rPr lang="en-US" baseline="0" dirty="0" smtClean="0"/>
                        <a:t> 11:30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Break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11:30 – 1:30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Lab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1:30 – 2:30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Lunch Break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2:30 – 4:30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0613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300" y="558800"/>
            <a:ext cx="11112500" cy="5618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Case 1: Without </a:t>
            </a:r>
            <a:r>
              <a:rPr lang="en-US" sz="1800" b="1" dirty="0" smtClean="0"/>
              <a:t>Automation</a:t>
            </a:r>
            <a:endParaRPr lang="en-US" sz="1800" b="1" dirty="0"/>
          </a:p>
          <a:p>
            <a:pPr marL="0" indent="0">
              <a:buNone/>
            </a:pPr>
            <a:r>
              <a:rPr lang="en-US" sz="1800" dirty="0" smtClean="0"/>
              <a:t> </a:t>
            </a:r>
            <a:r>
              <a:rPr lang="en-US" sz="1800" dirty="0"/>
              <a:t>Lights ON from 9:00 AM – 4:30 PM (entire session)  </a:t>
            </a:r>
          </a:p>
          <a:p>
            <a:pPr marL="0" indent="0">
              <a:buNone/>
            </a:pPr>
            <a:r>
              <a:rPr lang="en-US" sz="1800" dirty="0" smtClean="0"/>
              <a:t>Total </a:t>
            </a:r>
            <a:r>
              <a:rPr lang="en-US" sz="1800" dirty="0"/>
              <a:t>time = </a:t>
            </a:r>
            <a:r>
              <a:rPr lang="en-US" sz="1800" dirty="0" smtClean="0"/>
              <a:t>7.5 hrs</a:t>
            </a:r>
          </a:p>
          <a:p>
            <a:pPr marL="0" indent="0">
              <a:buNone/>
            </a:pPr>
            <a:r>
              <a:rPr lang="en-US" sz="1800" dirty="0" smtClean="0"/>
              <a:t> </a:t>
            </a:r>
            <a:r>
              <a:rPr lang="en-US" sz="1800" dirty="0"/>
              <a:t>Energy = 120 W × 7.5 hrs = </a:t>
            </a:r>
            <a:r>
              <a:rPr lang="en-US" sz="1800" dirty="0" smtClean="0"/>
              <a:t>900 Wh</a:t>
            </a:r>
          </a:p>
          <a:p>
            <a:pPr marL="0" indent="0">
              <a:buNone/>
            </a:pPr>
            <a:r>
              <a:rPr lang="en-US" sz="1800" b="1" dirty="0" smtClean="0"/>
              <a:t>Case </a:t>
            </a:r>
            <a:r>
              <a:rPr lang="en-US" sz="1800" b="1" dirty="0"/>
              <a:t>2: With </a:t>
            </a:r>
            <a:r>
              <a:rPr lang="en-US" sz="1800" b="1" dirty="0" smtClean="0"/>
              <a:t>Automation</a:t>
            </a:r>
          </a:p>
          <a:p>
            <a:pPr marL="0" indent="0">
              <a:buNone/>
            </a:pPr>
            <a:r>
              <a:rPr lang="en-US" sz="1800" dirty="0" smtClean="0"/>
              <a:t>Total </a:t>
            </a:r>
            <a:r>
              <a:rPr lang="en-US" sz="1800" dirty="0"/>
              <a:t>active time = 2 + 2 + 2 = </a:t>
            </a:r>
            <a:r>
              <a:rPr lang="en-US" sz="1800" dirty="0" smtClean="0"/>
              <a:t>6 hrs</a:t>
            </a:r>
            <a:endParaRPr lang="en-US" sz="1800" dirty="0"/>
          </a:p>
          <a:p>
            <a:pPr marL="0" indent="0">
              <a:buNone/>
            </a:pPr>
            <a:r>
              <a:rPr lang="en-US" sz="1800" dirty="0" smtClean="0"/>
              <a:t>Energy </a:t>
            </a:r>
            <a:r>
              <a:rPr lang="en-US" sz="1800" dirty="0"/>
              <a:t>= 120 W × 6 hrs = </a:t>
            </a:r>
            <a:r>
              <a:rPr lang="en-US" sz="1800" dirty="0" smtClean="0"/>
              <a:t>720 Wh</a:t>
            </a:r>
          </a:p>
          <a:p>
            <a:pPr marL="0" indent="0">
              <a:buNone/>
            </a:pPr>
            <a:r>
              <a:rPr lang="en-US" sz="1800" b="1" dirty="0" smtClean="0"/>
              <a:t>Energy </a:t>
            </a:r>
            <a:r>
              <a:rPr lang="en-US" sz="1800" b="1" dirty="0"/>
              <a:t>Saved on Tuesday*0.9 kWh – 0.72 kWh = </a:t>
            </a:r>
            <a:r>
              <a:rPr lang="en-US" sz="1800" b="1" dirty="0" smtClean="0"/>
              <a:t>0.18 kWh saved 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460805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495300"/>
            <a:ext cx="10972800" cy="56816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For Wednesday:</a:t>
            </a:r>
          </a:p>
          <a:p>
            <a:pPr marL="0" indent="0">
              <a:buNone/>
            </a:pPr>
            <a:r>
              <a:rPr lang="en-US" sz="1800" dirty="0" smtClean="0"/>
              <a:t>6 </a:t>
            </a:r>
            <a:r>
              <a:rPr lang="en-US" sz="1800" dirty="0"/>
              <a:t>tube lights  </a:t>
            </a:r>
            <a:r>
              <a:rPr lang="en-US" sz="1800" dirty="0" smtClean="0"/>
              <a:t> </a:t>
            </a:r>
          </a:p>
          <a:p>
            <a:pPr marL="0" indent="0">
              <a:buNone/>
            </a:pPr>
            <a:r>
              <a:rPr lang="en-US" sz="1800" dirty="0" smtClean="0"/>
              <a:t>Power </a:t>
            </a:r>
            <a:r>
              <a:rPr lang="en-US" sz="1800" dirty="0"/>
              <a:t>per light = 20 W 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Total </a:t>
            </a:r>
            <a:r>
              <a:rPr lang="en-US" sz="1800" dirty="0"/>
              <a:t>power = 6 × 20 = </a:t>
            </a:r>
            <a:r>
              <a:rPr lang="en-US" sz="1800" dirty="0" smtClean="0"/>
              <a:t>120 W</a:t>
            </a:r>
            <a:endParaRPr lang="en-US" sz="1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196981"/>
              </p:ext>
            </p:extLst>
          </p:nvPr>
        </p:nvGraphicFramePr>
        <p:xfrm>
          <a:off x="508001" y="2273298"/>
          <a:ext cx="8178798" cy="2157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6266"/>
                <a:gridCol w="2726266"/>
                <a:gridCol w="2726266"/>
              </a:tblGrid>
              <a:tr h="431518">
                <a:tc>
                  <a:txBody>
                    <a:bodyPr/>
                    <a:lstStyle/>
                    <a:p>
                      <a:r>
                        <a:rPr lang="en-US" dirty="0" smtClean="0"/>
                        <a:t>Time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Hours</a:t>
                      </a:r>
                      <a:endParaRPr lang="en-US" dirty="0"/>
                    </a:p>
                  </a:txBody>
                  <a:tcPr/>
                </a:tc>
              </a:tr>
              <a:tr h="431518">
                <a:tc>
                  <a:txBody>
                    <a:bodyPr/>
                    <a:lstStyle/>
                    <a:p>
                      <a:r>
                        <a:rPr lang="en-US" dirty="0" smtClean="0"/>
                        <a:t>9:00 to 11:00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431518">
                <a:tc>
                  <a:txBody>
                    <a:bodyPr/>
                    <a:lstStyle/>
                    <a:p>
                      <a:r>
                        <a:rPr lang="en-US" dirty="0" smtClean="0"/>
                        <a:t>11:00 to 11:30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Break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431518">
                <a:tc>
                  <a:txBody>
                    <a:bodyPr/>
                    <a:lstStyle/>
                    <a:p>
                      <a:r>
                        <a:rPr lang="en-US" dirty="0" smtClean="0"/>
                        <a:t>11:30 to 1:30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431518">
                <a:tc>
                  <a:txBody>
                    <a:bodyPr/>
                    <a:lstStyle/>
                    <a:p>
                      <a:r>
                        <a:rPr lang="en-US" dirty="0" smtClean="0"/>
                        <a:t>1:30 onwards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 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984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469900"/>
            <a:ext cx="11125200" cy="57070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 smtClean="0"/>
              <a:t>Case </a:t>
            </a:r>
            <a:r>
              <a:rPr lang="en-US" sz="1600" b="1" dirty="0"/>
              <a:t>1: Without </a:t>
            </a:r>
            <a:r>
              <a:rPr lang="en-US" sz="1600" b="1" dirty="0" smtClean="0"/>
              <a:t>Automation</a:t>
            </a:r>
            <a:endParaRPr lang="en-US" sz="1600" b="1" dirty="0"/>
          </a:p>
          <a:p>
            <a:pPr marL="0" indent="0">
              <a:buNone/>
            </a:pPr>
            <a:r>
              <a:rPr lang="en-US" sz="1600" dirty="0" smtClean="0"/>
              <a:t> </a:t>
            </a:r>
            <a:r>
              <a:rPr lang="en-US" sz="1600" dirty="0"/>
              <a:t>Lights ON from 9:00 AM – 1:30 PM </a:t>
            </a:r>
            <a:endParaRPr lang="en-US" sz="1600" dirty="0" smtClean="0"/>
          </a:p>
          <a:p>
            <a:pPr marL="0" indent="0">
              <a:buNone/>
            </a:pPr>
            <a:r>
              <a:rPr lang="en-US" sz="1600" dirty="0" smtClean="0"/>
              <a:t> Time </a:t>
            </a:r>
            <a:r>
              <a:rPr lang="en-US" sz="1600" dirty="0"/>
              <a:t>= 4.5 </a:t>
            </a:r>
            <a:r>
              <a:rPr lang="en-US" sz="1600" dirty="0" smtClean="0"/>
              <a:t>hrs</a:t>
            </a:r>
          </a:p>
          <a:p>
            <a:pPr marL="0" indent="0">
              <a:buNone/>
            </a:pPr>
            <a:r>
              <a:rPr lang="en-US" sz="1600" dirty="0" smtClean="0"/>
              <a:t> </a:t>
            </a:r>
            <a:r>
              <a:rPr lang="en-US" sz="1600" dirty="0"/>
              <a:t>Energy = 120 W × 4.5 hrs = </a:t>
            </a:r>
            <a:r>
              <a:rPr lang="en-US" sz="1600" dirty="0" smtClean="0"/>
              <a:t>540 Wh </a:t>
            </a:r>
            <a:r>
              <a:rPr lang="en-US" sz="1600" dirty="0"/>
              <a:t>= 0.54 </a:t>
            </a:r>
            <a:r>
              <a:rPr lang="en-US" sz="1600" dirty="0" smtClean="0"/>
              <a:t>kWh</a:t>
            </a:r>
          </a:p>
          <a:p>
            <a:pPr marL="0" indent="0">
              <a:buNone/>
            </a:pPr>
            <a:r>
              <a:rPr lang="en-US" sz="1600" b="1" dirty="0" smtClean="0"/>
              <a:t>Case </a:t>
            </a:r>
            <a:r>
              <a:rPr lang="en-US" sz="1600" b="1" dirty="0"/>
              <a:t>2: With </a:t>
            </a:r>
            <a:r>
              <a:rPr lang="en-US" sz="1600" b="1" dirty="0" smtClean="0"/>
              <a:t>Automation</a:t>
            </a:r>
          </a:p>
          <a:p>
            <a:pPr marL="0" indent="0">
              <a:buNone/>
            </a:pPr>
            <a:r>
              <a:rPr lang="en-US" sz="1600" dirty="0" smtClean="0"/>
              <a:t>Only </a:t>
            </a:r>
            <a:r>
              <a:rPr lang="en-US" sz="1600" dirty="0"/>
              <a:t>during class (4 hrs</a:t>
            </a:r>
            <a:r>
              <a:rPr lang="en-US" sz="1600" dirty="0" smtClean="0"/>
              <a:t>)</a:t>
            </a:r>
          </a:p>
          <a:p>
            <a:pPr marL="0" indent="0">
              <a:buNone/>
            </a:pPr>
            <a:r>
              <a:rPr lang="en-US" sz="1600" dirty="0" smtClean="0"/>
              <a:t>Energy </a:t>
            </a:r>
            <a:r>
              <a:rPr lang="en-US" sz="1600" dirty="0"/>
              <a:t>= 120 W × 4 hrs = </a:t>
            </a:r>
            <a:r>
              <a:rPr lang="en-US" sz="1600" dirty="0" smtClean="0"/>
              <a:t>480 Wh </a:t>
            </a:r>
            <a:r>
              <a:rPr lang="en-US" sz="1600" dirty="0"/>
              <a:t>= 0.48 </a:t>
            </a:r>
            <a:r>
              <a:rPr lang="en-US" sz="1600" dirty="0" smtClean="0"/>
              <a:t>kWh</a:t>
            </a:r>
          </a:p>
          <a:p>
            <a:pPr marL="0" indent="0">
              <a:buNone/>
            </a:pPr>
            <a:r>
              <a:rPr lang="en-US" sz="1600" b="1" dirty="0" smtClean="0"/>
              <a:t>Energy </a:t>
            </a:r>
            <a:r>
              <a:rPr lang="en-US" sz="1600" b="1" dirty="0"/>
              <a:t>Saved on </a:t>
            </a:r>
            <a:r>
              <a:rPr lang="en-US" sz="1600" b="1" dirty="0" smtClean="0"/>
              <a:t>Wednesday0.54 </a:t>
            </a:r>
            <a:r>
              <a:rPr lang="en-US" sz="1600" b="1" dirty="0"/>
              <a:t>kWh – 0.48 kWh = 0.06 kWh saved</a:t>
            </a:r>
          </a:p>
        </p:txBody>
      </p:sp>
    </p:spTree>
    <p:extLst>
      <p:ext uri="{BB962C8B-B14F-4D97-AF65-F5344CB8AC3E}">
        <p14:creationId xmlns:p14="http://schemas.microsoft.com/office/powerpoint/2010/main" val="779769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508000"/>
            <a:ext cx="10947400" cy="56689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For Tuesday:</a:t>
            </a:r>
          </a:p>
          <a:p>
            <a:pPr marL="0" indent="0">
              <a:buNone/>
            </a:pPr>
            <a:r>
              <a:rPr lang="en-US" sz="1800" dirty="0" smtClean="0"/>
              <a:t>6 </a:t>
            </a:r>
            <a:r>
              <a:rPr lang="en-US" sz="1800" dirty="0"/>
              <a:t>tube lights  </a:t>
            </a:r>
          </a:p>
          <a:p>
            <a:pPr marL="0" indent="0">
              <a:buNone/>
            </a:pPr>
            <a:r>
              <a:rPr lang="en-US" sz="1800" dirty="0" smtClean="0"/>
              <a:t>Power </a:t>
            </a:r>
            <a:r>
              <a:rPr lang="en-US" sz="1800" dirty="0"/>
              <a:t>per light = 20 W  </a:t>
            </a:r>
          </a:p>
          <a:p>
            <a:pPr marL="0" indent="0">
              <a:buNone/>
            </a:pPr>
            <a:r>
              <a:rPr lang="en-US" sz="1800" dirty="0" smtClean="0"/>
              <a:t>Total </a:t>
            </a:r>
            <a:r>
              <a:rPr lang="en-US" sz="1800" dirty="0"/>
              <a:t>= </a:t>
            </a:r>
            <a:r>
              <a:rPr lang="en-US" sz="1800" dirty="0" smtClean="0"/>
              <a:t>120 W</a:t>
            </a:r>
          </a:p>
          <a:p>
            <a:pPr marL="0" indent="0">
              <a:buNone/>
            </a:pPr>
            <a:endParaRPr lang="en-US" sz="1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029772"/>
              </p:ext>
            </p:extLst>
          </p:nvPr>
        </p:nvGraphicFramePr>
        <p:xfrm>
          <a:off x="419101" y="2507826"/>
          <a:ext cx="962659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8866"/>
                <a:gridCol w="3208866"/>
                <a:gridCol w="3208866"/>
              </a:tblGrid>
              <a:tr h="147078">
                <a:tc>
                  <a:txBody>
                    <a:bodyPr/>
                    <a:lstStyle/>
                    <a:p>
                      <a:r>
                        <a:rPr lang="en-US" dirty="0" smtClean="0"/>
                        <a:t>Time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Hours</a:t>
                      </a:r>
                      <a:endParaRPr lang="en-US" dirty="0"/>
                    </a:p>
                  </a:txBody>
                  <a:tcPr/>
                </a:tc>
              </a:tr>
              <a:tr h="147078">
                <a:tc>
                  <a:txBody>
                    <a:bodyPr/>
                    <a:lstStyle/>
                    <a:p>
                      <a:r>
                        <a:rPr lang="en-US" dirty="0" smtClean="0"/>
                        <a:t>9 to 11:00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147078">
                <a:tc>
                  <a:txBody>
                    <a:bodyPr/>
                    <a:lstStyle/>
                    <a:p>
                      <a:r>
                        <a:rPr lang="en-US" dirty="0" smtClean="0"/>
                        <a:t>11:00 to 11:30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Break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147078">
                <a:tc>
                  <a:txBody>
                    <a:bodyPr/>
                    <a:lstStyle/>
                    <a:p>
                      <a:r>
                        <a:rPr lang="en-US" dirty="0" smtClean="0"/>
                        <a:t>11:30 to 1:30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147078">
                <a:tc>
                  <a:txBody>
                    <a:bodyPr/>
                    <a:lstStyle/>
                    <a:p>
                      <a:r>
                        <a:rPr lang="en-US" dirty="0" smtClean="0"/>
                        <a:t>1:30 to 2:30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Lunch Break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147078">
                <a:tc>
                  <a:txBody>
                    <a:bodyPr/>
                    <a:lstStyle/>
                    <a:p>
                      <a:r>
                        <a:rPr lang="en-US" dirty="0" smtClean="0"/>
                        <a:t>2:30 to 3:30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0466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idx="1"/>
          </p:nvPr>
        </p:nvSpPr>
        <p:spPr>
          <a:xfrm>
            <a:off x="152400" y="508000"/>
            <a:ext cx="11201400" cy="5668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 smtClean="0"/>
              <a:t>Case </a:t>
            </a:r>
            <a:r>
              <a:rPr lang="en-US" sz="1800" b="1" dirty="0"/>
              <a:t>1: Without </a:t>
            </a:r>
            <a:r>
              <a:rPr lang="en-US" sz="1800" b="1" dirty="0" smtClean="0"/>
              <a:t>Automation</a:t>
            </a:r>
          </a:p>
          <a:p>
            <a:pPr marL="0" indent="0">
              <a:buNone/>
            </a:pPr>
            <a:r>
              <a:rPr lang="en-US" sz="1800" dirty="0" smtClean="0"/>
              <a:t>Energy </a:t>
            </a:r>
            <a:r>
              <a:rPr lang="en-US" sz="1800" dirty="0"/>
              <a:t>= 120 W × 6.5 hrs = 780 Wh = 0.78 </a:t>
            </a:r>
            <a:r>
              <a:rPr lang="en-US" sz="1800" dirty="0" smtClean="0"/>
              <a:t>kWh</a:t>
            </a:r>
          </a:p>
          <a:p>
            <a:pPr marL="0" indent="0">
              <a:buNone/>
            </a:pPr>
            <a:r>
              <a:rPr lang="en-US" sz="1800" b="1" dirty="0" smtClean="0"/>
              <a:t>Case </a:t>
            </a:r>
            <a:r>
              <a:rPr lang="en-US" sz="1800" b="1" dirty="0"/>
              <a:t>2: With </a:t>
            </a:r>
            <a:r>
              <a:rPr lang="en-US" sz="1800" b="1" dirty="0" smtClean="0"/>
              <a:t>Automation</a:t>
            </a:r>
          </a:p>
          <a:p>
            <a:pPr marL="0" indent="0">
              <a:buNone/>
            </a:pPr>
            <a:r>
              <a:rPr lang="en-US" sz="1800" dirty="0" smtClean="0"/>
              <a:t>Energy </a:t>
            </a:r>
            <a:r>
              <a:rPr lang="en-US" sz="1800" dirty="0"/>
              <a:t>= 120 W × 5 hrs = 600 Wh = 0.6 </a:t>
            </a:r>
            <a:r>
              <a:rPr lang="en-US" sz="1800" dirty="0" smtClean="0"/>
              <a:t>kWh</a:t>
            </a:r>
          </a:p>
          <a:p>
            <a:pPr marL="0" indent="0">
              <a:buNone/>
            </a:pPr>
            <a:r>
              <a:rPr lang="en-US" sz="1800" b="1" dirty="0" smtClean="0"/>
              <a:t>Energy </a:t>
            </a:r>
            <a:r>
              <a:rPr lang="en-US" sz="1800" b="1" dirty="0"/>
              <a:t>Saved on </a:t>
            </a:r>
            <a:r>
              <a:rPr lang="en-US" sz="1800" b="1" dirty="0" smtClean="0"/>
              <a:t>Thursday0.78 </a:t>
            </a:r>
            <a:r>
              <a:rPr lang="en-US" sz="1800" b="1" dirty="0"/>
              <a:t>– 0.6 = 0.18 kWh </a:t>
            </a:r>
            <a:r>
              <a:rPr lang="en-US" sz="1800" b="1" dirty="0" smtClean="0"/>
              <a:t>saved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2400" b="1" dirty="0" smtClean="0"/>
              <a:t>For Friday:</a:t>
            </a:r>
          </a:p>
          <a:p>
            <a:pPr marL="0" indent="0">
              <a:buNone/>
            </a:pPr>
            <a:r>
              <a:rPr lang="en-US" sz="1800" dirty="0" smtClean="0"/>
              <a:t> </a:t>
            </a:r>
            <a:r>
              <a:rPr lang="en-US" sz="1800" dirty="0"/>
              <a:t>6 tube lights  </a:t>
            </a:r>
          </a:p>
          <a:p>
            <a:pPr marL="0" indent="0">
              <a:buNone/>
            </a:pPr>
            <a:r>
              <a:rPr lang="en-US" sz="1800" dirty="0" smtClean="0"/>
              <a:t>Each </a:t>
            </a:r>
            <a:r>
              <a:rPr lang="en-US" sz="1800" dirty="0"/>
              <a:t>light = 20 W  </a:t>
            </a:r>
          </a:p>
          <a:p>
            <a:pPr marL="0" indent="0">
              <a:buNone/>
            </a:pPr>
            <a:r>
              <a:rPr lang="en-US" sz="1800" dirty="0" smtClean="0"/>
              <a:t>Total </a:t>
            </a:r>
            <a:r>
              <a:rPr lang="en-US" sz="1800" dirty="0"/>
              <a:t>= </a:t>
            </a:r>
            <a:r>
              <a:rPr lang="en-US" sz="1800" dirty="0" smtClean="0"/>
              <a:t>120 W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25891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00" y="177800"/>
            <a:ext cx="11150600" cy="5999163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/>
              <a:t>For Friday:</a:t>
            </a:r>
          </a:p>
          <a:p>
            <a:pPr marL="0" indent="0">
              <a:buNone/>
            </a:pPr>
            <a:r>
              <a:rPr lang="en-US" dirty="0"/>
              <a:t> 6 tube lights  </a:t>
            </a:r>
          </a:p>
          <a:p>
            <a:pPr marL="0" indent="0">
              <a:buNone/>
            </a:pPr>
            <a:r>
              <a:rPr lang="en-US" dirty="0"/>
              <a:t>Each light = 20 W  </a:t>
            </a:r>
          </a:p>
          <a:p>
            <a:pPr marL="0" indent="0">
              <a:buNone/>
            </a:pPr>
            <a:r>
              <a:rPr lang="en-US" dirty="0"/>
              <a:t>Total = 120 W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973811"/>
              </p:ext>
            </p:extLst>
          </p:nvPr>
        </p:nvGraphicFramePr>
        <p:xfrm>
          <a:off x="1739901" y="2336798"/>
          <a:ext cx="6769098" cy="37719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6366"/>
                <a:gridCol w="2256366"/>
                <a:gridCol w="2256366"/>
              </a:tblGrid>
              <a:tr h="538843">
                <a:tc>
                  <a:txBody>
                    <a:bodyPr/>
                    <a:lstStyle/>
                    <a:p>
                      <a:r>
                        <a:rPr lang="en-US" dirty="0" smtClean="0"/>
                        <a:t>time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Hours</a:t>
                      </a:r>
                      <a:endParaRPr lang="en-US" dirty="0"/>
                    </a:p>
                  </a:txBody>
                  <a:tcPr/>
                </a:tc>
              </a:tr>
              <a:tr h="538843">
                <a:tc>
                  <a:txBody>
                    <a:bodyPr/>
                    <a:lstStyle/>
                    <a:p>
                      <a:r>
                        <a:rPr lang="en-US" dirty="0" smtClean="0"/>
                        <a:t>9 to 11:00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538843">
                <a:tc>
                  <a:txBody>
                    <a:bodyPr/>
                    <a:lstStyle/>
                    <a:p>
                      <a:r>
                        <a:rPr lang="en-US" dirty="0" smtClean="0"/>
                        <a:t>11:00 to 11:30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Break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538843">
                <a:tc>
                  <a:txBody>
                    <a:bodyPr/>
                    <a:lstStyle/>
                    <a:p>
                      <a:r>
                        <a:rPr lang="en-US" dirty="0" smtClean="0"/>
                        <a:t>11:30 to 1:30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538843">
                <a:tc>
                  <a:txBody>
                    <a:bodyPr/>
                    <a:lstStyle/>
                    <a:p>
                      <a:r>
                        <a:rPr lang="en-US" dirty="0" smtClean="0"/>
                        <a:t>1:30 to 2:30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Lunch Break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538843">
                <a:tc>
                  <a:txBody>
                    <a:bodyPr/>
                    <a:lstStyle/>
                    <a:p>
                      <a:r>
                        <a:rPr lang="en-US" dirty="0" smtClean="0"/>
                        <a:t>2:30 to 4:30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53884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9531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700" y="596900"/>
            <a:ext cx="10960100" cy="55800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smtClean="0"/>
              <a:t>Total </a:t>
            </a:r>
            <a:r>
              <a:rPr lang="en-US" sz="1800" dirty="0"/>
              <a:t>class time = 2 + 2 + 2 = 6 hrs</a:t>
            </a:r>
            <a:br>
              <a:rPr lang="en-US" sz="1800" dirty="0"/>
            </a:br>
            <a:r>
              <a:rPr lang="en-US" sz="1800" dirty="0" smtClean="0"/>
              <a:t>Total </a:t>
            </a:r>
            <a:r>
              <a:rPr lang="en-US" sz="1800" dirty="0"/>
              <a:t>lights ON without </a:t>
            </a:r>
            <a:r>
              <a:rPr lang="en-US" sz="1800" dirty="0" smtClean="0"/>
              <a:t>automation </a:t>
            </a:r>
            <a:r>
              <a:rPr lang="en-US" sz="1800" dirty="0"/>
              <a:t>= 9:00 AM – 4:30 PM = 7.5 </a:t>
            </a:r>
            <a:r>
              <a:rPr lang="en-US" sz="1800" dirty="0" smtClean="0"/>
              <a:t>hrs</a:t>
            </a:r>
          </a:p>
          <a:p>
            <a:pPr marL="0" indent="0">
              <a:buNone/>
            </a:pPr>
            <a:r>
              <a:rPr lang="en-US" sz="1800" b="1" dirty="0" smtClean="0"/>
              <a:t>Case </a:t>
            </a:r>
            <a:r>
              <a:rPr lang="en-US" sz="1800" b="1" dirty="0"/>
              <a:t>1: Without </a:t>
            </a:r>
            <a:r>
              <a:rPr lang="en-US" sz="1800" b="1" dirty="0" smtClean="0"/>
              <a:t>Automation</a:t>
            </a:r>
          </a:p>
          <a:p>
            <a:pPr marL="0" indent="0">
              <a:buNone/>
            </a:pPr>
            <a:r>
              <a:rPr lang="en-US" sz="1800" dirty="0" smtClean="0"/>
              <a:t>Energy </a:t>
            </a:r>
            <a:r>
              <a:rPr lang="en-US" sz="1800" dirty="0"/>
              <a:t>= 120 W × 7.5 hrs = 900 Wh = 0.9 kWh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b="1" dirty="0" smtClean="0"/>
              <a:t>Case </a:t>
            </a:r>
            <a:r>
              <a:rPr lang="en-US" sz="1800" b="1" dirty="0"/>
              <a:t>2: With </a:t>
            </a:r>
            <a:r>
              <a:rPr lang="en-US" sz="1800" b="1" dirty="0" smtClean="0"/>
              <a:t>Automation</a:t>
            </a:r>
          </a:p>
          <a:p>
            <a:pPr marL="0" indent="0">
              <a:buNone/>
            </a:pPr>
            <a:r>
              <a:rPr lang="pl-PL" sz="1800" dirty="0"/>
              <a:t>Energy = 120 W × 6 hrs = 720 Wh = 0.72 </a:t>
            </a:r>
            <a:r>
              <a:rPr lang="pl-PL" sz="1800" dirty="0" smtClean="0"/>
              <a:t>kWh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b="1" dirty="0"/>
              <a:t>Energy Saved on </a:t>
            </a:r>
            <a:r>
              <a:rPr lang="en-US" sz="1800" b="1" dirty="0" smtClean="0"/>
              <a:t>Friday</a:t>
            </a:r>
          </a:p>
          <a:p>
            <a:pPr marL="0" indent="0">
              <a:buNone/>
            </a:pPr>
            <a:r>
              <a:rPr lang="en-US" sz="1800" dirty="0"/>
              <a:t>Energy Saved = 0.9 – 0.72 = 0.18 kWh</a:t>
            </a:r>
            <a:endParaRPr lang="en-US" sz="1800" dirty="0" smtClean="0"/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23345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2100" y="469900"/>
            <a:ext cx="11061700" cy="57070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For Saturday</a:t>
            </a:r>
          </a:p>
          <a:p>
            <a:r>
              <a:rPr lang="en-US" sz="1800" dirty="0"/>
              <a:t>6 tube lights</a:t>
            </a:r>
          </a:p>
          <a:p>
            <a:r>
              <a:rPr lang="en-US" sz="1800" dirty="0"/>
              <a:t>Each light = 20 W</a:t>
            </a:r>
          </a:p>
          <a:p>
            <a:r>
              <a:rPr lang="en-US" sz="1800" dirty="0"/>
              <a:t>Total Power = 120 W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952291"/>
              </p:ext>
            </p:extLst>
          </p:nvPr>
        </p:nvGraphicFramePr>
        <p:xfrm>
          <a:off x="939801" y="2484966"/>
          <a:ext cx="5651499" cy="30776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3833"/>
                <a:gridCol w="1883833"/>
                <a:gridCol w="1883833"/>
              </a:tblGrid>
              <a:tr h="1025878">
                <a:tc>
                  <a:txBody>
                    <a:bodyPr/>
                    <a:lstStyle/>
                    <a:p>
                      <a:r>
                        <a:rPr lang="en-US" dirty="0" smtClean="0"/>
                        <a:t>time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Hours</a:t>
                      </a:r>
                      <a:endParaRPr lang="en-US" dirty="0"/>
                    </a:p>
                  </a:txBody>
                  <a:tcPr/>
                </a:tc>
              </a:tr>
              <a:tr h="1025878">
                <a:tc>
                  <a:txBody>
                    <a:bodyPr/>
                    <a:lstStyle/>
                    <a:p>
                      <a:r>
                        <a:rPr lang="en-US" dirty="0" smtClean="0"/>
                        <a:t> 9 to 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1025878">
                <a:tc>
                  <a:txBody>
                    <a:bodyPr/>
                    <a:lstStyle/>
                    <a:p>
                      <a:r>
                        <a:rPr lang="en-US" dirty="0" smtClean="0"/>
                        <a:t>11 on</a:t>
                      </a:r>
                      <a:r>
                        <a:rPr lang="en-US" baseline="0" dirty="0" smtClean="0"/>
                        <a:t>wards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 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674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idx="1"/>
          </p:nvPr>
        </p:nvSpPr>
        <p:spPr>
          <a:xfrm>
            <a:off x="266700" y="520700"/>
            <a:ext cx="11087100" cy="5656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smtClean="0"/>
              <a:t>Total </a:t>
            </a:r>
            <a:r>
              <a:rPr lang="en-US" sz="1800" dirty="0"/>
              <a:t>class time = 2 hrs</a:t>
            </a:r>
            <a:br>
              <a:rPr lang="en-US" sz="1800" dirty="0"/>
            </a:br>
            <a:r>
              <a:rPr lang="en-US" sz="1800" dirty="0" smtClean="0"/>
              <a:t>Total </a:t>
            </a:r>
            <a:r>
              <a:rPr lang="en-US" sz="1800" dirty="0"/>
              <a:t>lights </a:t>
            </a:r>
            <a:r>
              <a:rPr lang="en-US" sz="1800" dirty="0" smtClean="0"/>
              <a:t>ON </a:t>
            </a:r>
            <a:r>
              <a:rPr lang="en-US" sz="1800" dirty="0"/>
              <a:t>without automation = 9:00 AM – 4:30 PM = 7.5 </a:t>
            </a:r>
            <a:r>
              <a:rPr lang="en-US" sz="1800" dirty="0" smtClean="0"/>
              <a:t>hrs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Case 1: Without </a:t>
            </a:r>
            <a:r>
              <a:rPr lang="en-US" sz="1800" b="1" dirty="0" smtClean="0"/>
              <a:t>Automation</a:t>
            </a:r>
          </a:p>
          <a:p>
            <a:pPr marL="0" indent="0">
              <a:buNone/>
            </a:pPr>
            <a:r>
              <a:rPr lang="pl-PL" sz="1800" dirty="0"/>
              <a:t>Energy = 120 W × 7.5 hrs = 900 Wh = 0.9 kWh</a:t>
            </a:r>
          </a:p>
          <a:p>
            <a:pPr marL="0" indent="0">
              <a:buNone/>
            </a:pPr>
            <a:r>
              <a:rPr lang="en-US" sz="1800" b="1" dirty="0"/>
              <a:t>Case 2: With </a:t>
            </a:r>
            <a:r>
              <a:rPr lang="en-US" sz="1800" b="1" dirty="0" smtClean="0"/>
              <a:t>Automation</a:t>
            </a:r>
          </a:p>
          <a:p>
            <a:pPr marL="0" indent="0">
              <a:buNone/>
            </a:pPr>
            <a:r>
              <a:rPr lang="pl-PL" sz="1800" dirty="0"/>
              <a:t>Energy = 120 W × 2 hrs = 240 Wh = 0.24 kWh</a:t>
            </a:r>
          </a:p>
          <a:p>
            <a:pPr marL="0" indent="0">
              <a:buNone/>
            </a:pPr>
            <a:r>
              <a:rPr lang="en-US" sz="1800" b="1" dirty="0"/>
              <a:t>Energy Saved on </a:t>
            </a:r>
            <a:r>
              <a:rPr lang="en-US" sz="1800" b="1" dirty="0" smtClean="0"/>
              <a:t>Saturday</a:t>
            </a:r>
          </a:p>
          <a:p>
            <a:pPr marL="0" indent="0">
              <a:buNone/>
            </a:pPr>
            <a:r>
              <a:rPr lang="en-US" sz="1800" dirty="0"/>
              <a:t>Energy Saved = 0.9 – 0.24 = 0.66 kWh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29176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091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56000" y="2578100"/>
            <a:ext cx="53006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2">
                    <a:lumMod val="75000"/>
                  </a:schemeClr>
                </a:solidFill>
              </a:rPr>
              <a:t>THANK YOU</a:t>
            </a:r>
          </a:p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636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3917</TotalTime>
  <Words>663</Words>
  <Application>Microsoft Office PowerPoint</Application>
  <PresentationFormat>Custom</PresentationFormat>
  <Paragraphs>188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mallikarjun madage</dc:creator>
  <cp:lastModifiedBy>Vinayak</cp:lastModifiedBy>
  <cp:revision>59</cp:revision>
  <dcterms:created xsi:type="dcterms:W3CDTF">2024-11-25T04:15:24Z</dcterms:created>
  <dcterms:modified xsi:type="dcterms:W3CDTF">2025-12-16T09:07:41Z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f6091049d30b43b18c7e9ce8e7f51fbf</vt:lpwstr>
  </property>
</Properties>
</file>