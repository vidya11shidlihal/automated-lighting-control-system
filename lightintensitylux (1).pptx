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99" r:id="rId2"/>
    <p:sldId id="307" r:id="rId3"/>
    <p:sldId id="300" r:id="rId4"/>
    <p:sldId id="29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4F2CF-D1F7-49F0-BDF6-11608E4847E1}" v="11" dt="2024-12-02T08:05:35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3" autoAdjust="0"/>
    <p:restoredTop sz="94660"/>
  </p:normalViewPr>
  <p:slideViewPr>
    <p:cSldViewPr snapToGrid="0">
      <p:cViewPr>
        <p:scale>
          <a:sx n="66" d="100"/>
          <a:sy n="66" d="100"/>
        </p:scale>
        <p:origin x="-1339" y="-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90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9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2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0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1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3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9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0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3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4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8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0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4C9586-10DD-EDC0-D1E5-7370A9F19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374073"/>
            <a:ext cx="10993582" cy="6179127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/>
              <a:t>                                                "</a:t>
            </a:r>
            <a:r>
              <a:rPr lang="en-US" sz="2000" b="1" dirty="0"/>
              <a:t>Light Level Changes Throughout the </a:t>
            </a:r>
            <a:r>
              <a:rPr lang="en-US" sz="2000" b="1" dirty="0" smtClean="0"/>
              <a:t>Day“</a:t>
            </a:r>
          </a:p>
          <a:p>
            <a:pPr marL="0" indent="0">
              <a:buNone/>
            </a:pPr>
            <a:r>
              <a:rPr lang="en-US" sz="2000" b="1" dirty="0"/>
              <a:t>Basic Formula</a:t>
            </a:r>
            <a:r>
              <a:rPr lang="en-US" sz="2000" dirty="0" smtClean="0"/>
              <a:t>:</a:t>
            </a:r>
          </a:p>
          <a:p>
            <a:pPr marL="0" indent="0" algn="just">
              <a:buNone/>
            </a:pPr>
            <a:r>
              <a:rPr lang="en-US" sz="2000" dirty="0" smtClean="0"/>
              <a:t>       Illuminance</a:t>
            </a:r>
            <a:r>
              <a:rPr lang="en-US" sz="2000" dirty="0"/>
              <a:t> (lux) = Luminous Flux (in lumens</a:t>
            </a:r>
            <a:r>
              <a:rPr lang="en-US" sz="2000" dirty="0" smtClean="0"/>
              <a:t>)</a:t>
            </a:r>
          </a:p>
          <a:p>
            <a:pPr marL="0" indent="0" algn="just">
              <a:buNone/>
            </a:pPr>
            <a:r>
              <a:rPr lang="en-US" sz="2000" b="1" dirty="0"/>
              <a:t> </a:t>
            </a:r>
            <a:r>
              <a:rPr lang="en-US" sz="2000" b="1" dirty="0" smtClean="0"/>
              <a:t>                                                  </a:t>
            </a:r>
            <a:r>
              <a:rPr lang="en-US" sz="2000" dirty="0"/>
              <a:t>Area (in </a:t>
            </a:r>
            <a:r>
              <a:rPr lang="en-US" sz="2000" dirty="0" smtClean="0"/>
              <a:t>m²)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Luminous Flux</a:t>
            </a:r>
            <a:r>
              <a:rPr lang="en-US" sz="2000" b="1" dirty="0" smtClean="0"/>
              <a:t>: </a:t>
            </a:r>
            <a:r>
              <a:rPr lang="en-US" sz="2000" dirty="0" smtClean="0"/>
              <a:t>It </a:t>
            </a:r>
            <a:r>
              <a:rPr lang="en-US" sz="2000" dirty="0"/>
              <a:t>means how much light is coming out of a source — measured in lumens.</a:t>
            </a:r>
            <a:br>
              <a:rPr lang="en-US" sz="2000" dirty="0"/>
            </a:br>
            <a:r>
              <a:rPr lang="en-US" sz="2000" dirty="0"/>
              <a:t>More lumens = brighter </a:t>
            </a:r>
            <a:r>
              <a:rPr lang="en-US" sz="2000" dirty="0" smtClean="0"/>
              <a:t>light.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Area =  It’s </a:t>
            </a:r>
            <a:r>
              <a:rPr lang="en-US" sz="2000" dirty="0"/>
              <a:t>the surface where light is falling — for example, your room floor or table.</a:t>
            </a:r>
            <a:br>
              <a:rPr lang="en-US" sz="2000" dirty="0"/>
            </a:br>
            <a:r>
              <a:rPr lang="en-US" sz="2000" dirty="0"/>
              <a:t>Measured in square meters (m²</a:t>
            </a:r>
            <a:r>
              <a:rPr lang="en-US" sz="2000" dirty="0" smtClean="0"/>
              <a:t>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 smtClean="0"/>
              <a:t> </a:t>
            </a:r>
            <a:r>
              <a:rPr lang="en-US" sz="2000" dirty="0" smtClean="0"/>
              <a:t>Illuminance =  It </a:t>
            </a:r>
            <a:r>
              <a:rPr lang="en-US" sz="2000" dirty="0"/>
              <a:t>tells how much light is reaching a surface — measured in lux.</a:t>
            </a:r>
            <a:br>
              <a:rPr lang="en-US" sz="2000" dirty="0"/>
            </a:br>
            <a:r>
              <a:rPr lang="en-US" sz="2000" dirty="0"/>
              <a:t>More lux = brighter place or tells us how bright a place is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dirty="0" smtClean="0"/>
              <a:t>Why area has taken: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The </a:t>
            </a:r>
            <a:r>
              <a:rPr lang="en-US" sz="2000" dirty="0"/>
              <a:t>bigger the area, the less bright it feels because the same light spreads out more.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The smaller the area, the brighter it feels.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endParaRPr lang="en-US" sz="2000" dirty="0" smtClean="0"/>
          </a:p>
          <a:p>
            <a:pPr marL="0" indent="0" algn="just">
              <a:buNone/>
            </a:pPr>
            <a:endParaRPr lang="en-US" sz="2000" b="1" dirty="0" smtClean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715491" y="1496291"/>
            <a:ext cx="2646218" cy="13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16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5582" y="152400"/>
            <a:ext cx="9012382" cy="332509"/>
          </a:xfrm>
        </p:spPr>
        <p:txBody>
          <a:bodyPr>
            <a:noAutofit/>
          </a:bodyPr>
          <a:lstStyle/>
          <a:p>
            <a:r>
              <a:rPr lang="en-US" sz="1800" dirty="0"/>
              <a:t>Light Intensity from Morning to Night (Example</a:t>
            </a:r>
            <a:r>
              <a:rPr lang="en-US" sz="1800" dirty="0" smtClean="0"/>
              <a:t>) </a:t>
            </a:r>
            <a:endParaRPr lang="en-US" sz="18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7106596"/>
              </p:ext>
            </p:extLst>
          </p:nvPr>
        </p:nvGraphicFramePr>
        <p:xfrm>
          <a:off x="374073" y="471052"/>
          <a:ext cx="10979728" cy="6134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466"/>
                <a:gridCol w="1372466"/>
                <a:gridCol w="1372466"/>
                <a:gridCol w="1372466"/>
                <a:gridCol w="1372466"/>
                <a:gridCol w="1372466"/>
                <a:gridCol w="1372466"/>
                <a:gridCol w="1372466"/>
              </a:tblGrid>
              <a:tr h="70658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Light Intensity (Lumens)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Area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illuminance (Lux) = Lumens ÷ Area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Brightness Levels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Detected Lux (from LDR)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Action by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Bulb Light Intensity (Lumens)</a:t>
                      </a:r>
                      <a:endParaRPr lang="en-US" dirty="0"/>
                    </a:p>
                  </a:txBody>
                  <a:tcPr/>
                </a:tc>
              </a:tr>
              <a:tr h="706582">
                <a:tc>
                  <a:txBody>
                    <a:bodyPr/>
                    <a:lstStyle/>
                    <a:p>
                      <a:r>
                        <a:rPr lang="en-US" dirty="0" smtClean="0"/>
                        <a:t>7:00 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8,000 ÷ 8 = 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Bright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700–1000 lux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Light off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706582">
                <a:tc>
                  <a:txBody>
                    <a:bodyPr/>
                    <a:lstStyle/>
                    <a:p>
                      <a:r>
                        <a:rPr lang="en-US" dirty="0" smtClean="0"/>
                        <a:t>10:00 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10,000 ÷ 9 = 1111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Very Bright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&gt;1000 lux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Light off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706582">
                <a:tc>
                  <a:txBody>
                    <a:bodyPr/>
                    <a:lstStyle/>
                    <a:p>
                      <a:r>
                        <a:rPr lang="en-US" dirty="0" smtClean="0"/>
                        <a:t>1:00 PM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12,000 ÷ 10 = 1200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Very Bright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&gt;1000 lux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Light off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706582">
                <a:tc>
                  <a:txBody>
                    <a:bodyPr/>
                    <a:lstStyle/>
                    <a:p>
                      <a:r>
                        <a:rPr lang="en-US" dirty="0" smtClean="0"/>
                        <a:t>4:00 PM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6,000 ÷ 12 = 500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300–700 lux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Light off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706582">
                <a:tc>
                  <a:txBody>
                    <a:bodyPr/>
                    <a:lstStyle/>
                    <a:p>
                      <a:r>
                        <a:rPr lang="en-US" dirty="0" smtClean="0"/>
                        <a:t>5:00 PM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3,000 ÷ 15 = 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100-300lux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Light 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800lumens</a:t>
                      </a:r>
                      <a:endParaRPr lang="en-US" dirty="0"/>
                    </a:p>
                  </a:txBody>
                  <a:tcPr anchor="ctr"/>
                </a:tc>
              </a:tr>
              <a:tr h="706582">
                <a:tc>
                  <a:txBody>
                    <a:bodyPr/>
                    <a:lstStyle/>
                    <a:p>
                      <a:r>
                        <a:rPr lang="en-US" dirty="0" smtClean="0"/>
                        <a:t>6:00 PM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1,500 ÷ 20 = 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30–100 lux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Light 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~1200 lumens</a:t>
                      </a:r>
                      <a:endParaRPr lang="en-US" dirty="0"/>
                    </a:p>
                  </a:txBody>
                  <a:tcPr/>
                </a:tc>
              </a:tr>
              <a:tr h="706582">
                <a:tc>
                  <a:txBody>
                    <a:bodyPr/>
                    <a:lstStyle/>
                    <a:p>
                      <a:r>
                        <a:rPr lang="en-US" dirty="0" smtClean="0"/>
                        <a:t>7:00 PM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500 ÷ 25 = 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Very 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&lt;30lux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Light 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~1500–2000 lumens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18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5170721"/>
              </p:ext>
            </p:extLst>
          </p:nvPr>
        </p:nvGraphicFramePr>
        <p:xfrm>
          <a:off x="471055" y="415637"/>
          <a:ext cx="11249896" cy="803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237"/>
                <a:gridCol w="1406237"/>
                <a:gridCol w="1406237"/>
                <a:gridCol w="1406237"/>
                <a:gridCol w="1406237"/>
                <a:gridCol w="1406237"/>
                <a:gridCol w="1406237"/>
                <a:gridCol w="1406237"/>
              </a:tblGrid>
              <a:tr h="803561">
                <a:tc>
                  <a:txBody>
                    <a:bodyPr/>
                    <a:lstStyle/>
                    <a:p>
                      <a:r>
                        <a:rPr lang="en-US" dirty="0" smtClean="0"/>
                        <a:t>night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0/30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&lt;30lux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Light 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~1500–2000 lumens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174170" y="1402521"/>
            <a:ext cx="1022638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The system uses an LDR sensor to detect natural light levels (lux).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When sunlight is bright, the bulb stays OFF to save electricity.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As it gets darker, the system turns ON the bulb with needed brightness.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This helps in reducing power bills and supports energy saving.</a:t>
            </a:r>
          </a:p>
        </p:txBody>
      </p:sp>
    </p:spTree>
    <p:extLst>
      <p:ext uri="{BB962C8B-B14F-4D97-AF65-F5344CB8AC3E}">
        <p14:creationId xmlns:p14="http://schemas.microsoft.com/office/powerpoint/2010/main" val="55061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6000" y="2578100"/>
            <a:ext cx="5300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THANK YOU</a:t>
            </a:r>
          </a:p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63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2525</TotalTime>
  <Words>235</Words>
  <Application>Microsoft Office PowerPoint</Application>
  <PresentationFormat>Custom</PresentationFormat>
  <Paragraphs>93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Light Intensity from Morning to Night (Example)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mallikarjun madage</dc:creator>
  <cp:lastModifiedBy>Vinayak</cp:lastModifiedBy>
  <cp:revision>45</cp:revision>
  <dcterms:created xsi:type="dcterms:W3CDTF">2024-11-25T04:15:24Z</dcterms:created>
  <dcterms:modified xsi:type="dcterms:W3CDTF">2025-12-16T09:08:56Z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f6091049d30b43b18c7e9ce8e7f51fbf</vt:lpwstr>
  </property>
</Properties>
</file>